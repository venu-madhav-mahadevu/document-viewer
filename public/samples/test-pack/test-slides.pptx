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15</c:v>
                </c:pt>
                <c:pt idx="2">
                  <c:v>18</c:v>
                </c:pt>
                <c:pt idx="3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East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9</c:v>
                </c:pt>
                <c:pt idx="2">
                  <c:v>14</c:v>
                </c:pt>
                <c:pt idx="3">
                  <c:v>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Deposits</c:v>
                </c:pt>
                <c:pt idx="1">
                  <c:v>Loans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35</c:v>
                </c:pt>
                <c:pt idx="2">
                  <c:v>10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speaker notes for slide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" y="0"/>
            <a:ext cx="7863840" cy="0"/>
          </a:xfrm>
        </p:spPr>
        <p:txBody>
          <a:bodyPr/>
          <a:lstStyle/>
          <a:p>
            <a:r>
              <a:t>test-slides.pptx — PowerPoint test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760" y="0"/>
            <a:ext cx="7863840" cy="0"/>
          </a:xfrm>
        </p:spPr>
        <p:txBody>
          <a:bodyPr/>
          <a:lstStyle/>
          <a:p>
            <a:r>
              <a:t>Each slide lists its tests on the right: ID, what is tested, 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0" y="274320"/>
            <a:ext cx="3566160" cy="63093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/>
            <a:r>
              <a:rPr b="1" sz="1300">
                <a:solidFill>
                  <a:srgbClr val="1F4E79"/>
                </a:solidFill>
              </a:rPr>
              <a:t>Tests on this slide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PPTX-01 · Title and subtitle</a:t>
            </a:r>
          </a:p>
          <a:p>
            <a:r>
              <a:rPr sz="900" i="1">
                <a:solidFill>
                  <a:srgbClr val="595959"/>
                </a:solidFill>
              </a:rPr>
              <a:t>Expected: Large title text, smaller gray subtitle below it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PPTX-02 · Slide count and order</a:t>
            </a:r>
          </a:p>
          <a:p>
            <a:r>
              <a:rPr sz="900" i="1">
                <a:solidFill>
                  <a:srgbClr val="595959"/>
                </a:solidFill>
              </a:rPr>
              <a:t>Expected: Page bar shows 10 slides; thumbnails in order 1-10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PPTX-03 · 16:9 slide size</a:t>
            </a:r>
          </a:p>
          <a:p>
            <a:r>
              <a:rPr sz="900" i="1">
                <a:solidFill>
                  <a:srgbClr val="595959"/>
                </a:solidFill>
              </a:rPr>
              <a:t>Expected: Slides are wide (16:9), not square-ish (4:3)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2. Text 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Bold text</a:t>
            </a:r>
          </a:p>
          <a:p>
            <a:r>
              <a:rPr sz="2000" i="1"/>
              <a:t>Italic text</a:t>
            </a:r>
          </a:p>
          <a:p>
            <a:r>
              <a:rPr sz="2000" u="sng"/>
              <a:t>Underlined text</a:t>
            </a:r>
          </a:p>
          <a:p>
            <a:r>
              <a:rPr sz="2000" strike="sngStrike"/>
              <a:t>Strikethrough text</a:t>
            </a:r>
          </a:p>
          <a:p>
            <a:r>
              <a:rPr sz="2000">
                <a:solidFill>
                  <a:srgbClr val="C00000"/>
                </a:solidFill>
              </a:rPr>
              <a:t>Red text</a:t>
            </a:r>
          </a:p>
          <a:p>
            <a:r>
              <a:rPr sz="2000">
                <a:solidFill>
                  <a:srgbClr val="0070C0"/>
                </a:solidFill>
              </a:rPr>
              <a:t>Blue text</a:t>
            </a:r>
          </a:p>
          <a:p>
            <a:r>
              <a:rPr sz="2000">
                <a:solidFill>
                  <a:srgbClr val="00B050"/>
                </a:solidFill>
              </a:rPr>
              <a:t>Green text</a:t>
            </a:r>
          </a:p>
          <a:p>
            <a:r>
              <a:rPr sz="1200"/>
              <a:t>Small 12 pt</a:t>
            </a:r>
          </a:p>
          <a:p>
            <a:r>
              <a:rPr sz="3200"/>
              <a:t>Large 32 pt</a:t>
            </a:r>
          </a:p>
          <a:p>
            <a:r>
              <a:rPr sz="2000">
                <a:latin typeface="Times New Roman"/>
              </a:rPr>
              <a:t>Font Times New Roman</a:t>
            </a:r>
          </a:p>
          <a:p>
            <a:r>
              <a:rPr sz="2000">
                <a:latin typeface="Courier New"/>
              </a:rPr>
              <a:t>Font Courier New</a:t>
            </a:r>
          </a:p>
          <a:p>
            <a:r>
              <a:rPr sz="2000">
                <a:latin typeface="Georgia"/>
              </a:rPr>
              <a:t>Font Georgia</a:t>
            </a:r>
          </a:p>
          <a:p>
            <a:pPr algn="ctr"/>
            <a:r>
              <a:rPr sz="2000"/>
              <a:t>Centered line with superscript x</a:t>
            </a:r>
            <a:r>
              <a:rPr sz="2000" baseline="30000"/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0" y="274320"/>
            <a:ext cx="3566160" cy="63093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/>
            <a:r>
              <a:rPr b="1" sz="1300">
                <a:solidFill>
                  <a:srgbClr val="1F4E79"/>
                </a:solidFill>
              </a:rPr>
              <a:t>Tests on this slide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PPTX-04 · Bold, italic, underline, strikethrough</a:t>
            </a:r>
          </a:p>
          <a:p>
            <a:r>
              <a:rPr sz="900" i="1">
                <a:solidFill>
                  <a:srgbClr val="595959"/>
                </a:solidFill>
              </a:rPr>
              <a:t>Expected: Lines 1-4 look like their names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PPTX-05 · Text colors</a:t>
            </a:r>
          </a:p>
          <a:p>
            <a:r>
              <a:rPr sz="900" i="1">
                <a:solidFill>
                  <a:srgbClr val="595959"/>
                </a:solidFill>
              </a:rPr>
              <a:t>Expected: Red, blue and green lines in those colors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PPTX-06 · Font sizes</a:t>
            </a:r>
          </a:p>
          <a:p>
            <a:r>
              <a:rPr sz="900" i="1">
                <a:solidFill>
                  <a:srgbClr val="595959"/>
                </a:solidFill>
              </a:rPr>
              <a:t>Expected: "Small 12 pt" is small, "Large 32 pt" is big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PPTX-07 · Font families</a:t>
            </a:r>
          </a:p>
          <a:p>
            <a:r>
              <a:rPr sz="900" i="1">
                <a:solidFill>
                  <a:srgbClr val="595959"/>
                </a:solidFill>
              </a:rPr>
              <a:t>Expected: Times, Courier and Georgia lines in those fonts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PPTX-08 · Center alignment and superscript</a:t>
            </a:r>
          </a:p>
          <a:p>
            <a:r>
              <a:rPr sz="900" i="1">
                <a:solidFill>
                  <a:srgbClr val="595959"/>
                </a:solidFill>
              </a:rPr>
              <a:t>Expected: Last line is centered; the 2 is small and raised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0"/>
            <a:ext cx="7863840" cy="0"/>
          </a:xfrm>
        </p:spPr>
        <p:txBody>
          <a:bodyPr/>
          <a:lstStyle/>
          <a:p>
            <a:r>
              <a:t>3.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280160"/>
            <a:ext cx="7863840" cy="5303520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sz="1800"/>
              <a:t>Round bullet • (Arial)</a:t>
            </a:r>
          </a:p>
          <a:p>
            <a:pPr>
              <a:buFont typeface="Wingdings" pitchFamily="2" charset="2"/>
              <a:buChar char="§"/>
            </a:pPr>
            <a:r>
              <a:rPr sz="1800"/>
              <a:t>Square bullet (Wingdings §)</a:t>
            </a:r>
          </a:p>
          <a:p>
            <a:pPr>
              <a:buFont typeface="Wingdings" pitchFamily="2" charset="2"/>
              <a:buChar char="q"/>
            </a:pPr>
            <a:r>
              <a:rPr sz="1800"/>
              <a:t>Box bullet (Wingdings q)</a:t>
            </a:r>
          </a:p>
          <a:p>
            <a:pPr>
              <a:buFont typeface="Wingdings" pitchFamily="2" charset="2"/>
              <a:buChar char="n"/>
            </a:pPr>
            <a:r>
              <a:rPr sz="1800"/>
              <a:t>Filled square (Wingdings n)</a:t>
            </a:r>
          </a:p>
          <a:p>
            <a:pPr>
              <a:buFont typeface="Wingdings" pitchFamily="2" charset="2"/>
              <a:buChar char="Ø"/>
            </a:pPr>
            <a:r>
              <a:rPr sz="1800"/>
              <a:t>Arrow bullet (Wingdings Ø)</a:t>
            </a:r>
          </a:p>
          <a:p>
            <a:pPr>
              <a:buFont typeface="Wingdings" pitchFamily="2" charset="2"/>
              <a:buChar char="ü"/>
            </a:pPr>
            <a:r>
              <a:rPr sz="1800"/>
              <a:t>Check bullet (Wingdings ü)</a:t>
            </a:r>
          </a:p>
          <a:p>
            <a:pPr>
              <a:buFont typeface="Wingdings" pitchFamily="2" charset="2"/>
              <a:buChar char="v"/>
            </a:pPr>
            <a:r>
              <a:rPr sz="1800"/>
              <a:t>Diamond bullet (Wingdings v)</a:t>
            </a:r>
          </a:p>
          <a:p>
            <a:pPr>
              <a:buFont typeface="Arial"/>
              <a:buChar char="•"/>
            </a:pPr>
            <a:r>
              <a:rPr sz="1800"/>
              <a:t>Level 1</a:t>
            </a:r>
          </a:p>
          <a:p>
            <a:pPr lvl="1">
              <a:buFont typeface="Arial"/>
              <a:buChar char="–"/>
            </a:pPr>
            <a:r>
              <a:rPr sz="1600"/>
              <a:t>Level 2 (indented more)</a:t>
            </a:r>
          </a:p>
          <a:p>
            <a:pPr lvl="2">
              <a:buFont typeface="Wingdings" pitchFamily="2" charset="2"/>
              <a:buChar char="§"/>
            </a:pPr>
            <a:r>
              <a:rPr sz="1400"/>
              <a:t>Level 3 (square)</a:t>
            </a:r>
          </a:p>
          <a:p>
            <a:pPr lvl="3">
              <a:buFont typeface="Arial"/>
              <a:buChar char="•"/>
            </a:pPr>
            <a:r>
              <a:rPr sz="1200"/>
              <a:t>Level 4 (smaller still)</a:t>
            </a:r>
          </a:p>
          <a:p>
            <a:pPr>
              <a:buAutoNum type="arabicPeriod"/>
            </a:pPr>
            <a:r>
              <a:rPr sz="1800"/>
              <a:t>Numbered 1.</a:t>
            </a:r>
          </a:p>
          <a:p>
            <a:pPr>
              <a:buAutoNum type="arabicPeriod"/>
            </a:pPr>
            <a:r>
              <a:rPr sz="1800"/>
              <a:t>Numbered 2.</a:t>
            </a:r>
          </a:p>
          <a:p>
            <a:pPr>
              <a:buAutoNum type="alphaLcParenR"/>
            </a:pPr>
            <a:r>
              <a:rPr sz="1800"/>
              <a:t>Letter a)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0" y="274320"/>
            <a:ext cx="3566160" cy="63093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/>
            <a:r>
              <a:rPr b="1" sz="1300">
                <a:solidFill>
                  <a:srgbClr val="1F4E79"/>
                </a:solidFill>
              </a:rPr>
              <a:t>Tests on this slide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PPTX-09 · Round bullet</a:t>
            </a:r>
          </a:p>
          <a:p>
            <a:r>
              <a:rPr sz="900" i="1">
                <a:solidFill>
                  <a:srgbClr val="595959"/>
                </a:solidFill>
              </a:rPr>
              <a:t>Expected: Round •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PPTX-10 · Wingdings §</a:t>
            </a:r>
          </a:p>
          <a:p>
            <a:r>
              <a:rPr sz="900" i="1">
                <a:solidFill>
                  <a:srgbClr val="595959"/>
                </a:solidFill>
              </a:rPr>
              <a:t>Expected: Small square ▪ — NOT §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PPTX-11 · Wingdings q</a:t>
            </a:r>
          </a:p>
          <a:p>
            <a:r>
              <a:rPr sz="900" i="1">
                <a:solidFill>
                  <a:srgbClr val="595959"/>
                </a:solidFill>
              </a:rPr>
              <a:t>Expected: Hollow box ❑ — NOT q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PPTX-12 · Wingdings n</a:t>
            </a:r>
          </a:p>
          <a:p>
            <a:r>
              <a:rPr sz="900" i="1">
                <a:solidFill>
                  <a:srgbClr val="595959"/>
                </a:solidFill>
              </a:rPr>
              <a:t>Expected: Filled square ■ — NOT n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PPTX-13 · Wingdings Ø</a:t>
            </a:r>
          </a:p>
          <a:p>
            <a:r>
              <a:rPr sz="900" i="1">
                <a:solidFill>
                  <a:srgbClr val="595959"/>
                </a:solidFill>
              </a:rPr>
              <a:t>Expected: Arrow head ➢ — NOT Ø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PPTX-14 · Wingdings ü</a:t>
            </a:r>
          </a:p>
          <a:p>
            <a:r>
              <a:rPr sz="900" i="1">
                <a:solidFill>
                  <a:srgbClr val="595959"/>
                </a:solidFill>
              </a:rPr>
              <a:t>Expected: Check ✓ — NOT ü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PPTX-15 · Wingdings v</a:t>
            </a:r>
          </a:p>
          <a:p>
            <a:r>
              <a:rPr sz="900" i="1">
                <a:solidFill>
                  <a:srgbClr val="595959"/>
                </a:solidFill>
              </a:rPr>
              <a:t>Expected: Diamond ❖ — NOT v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PPTX-16 · Multi-level indents</a:t>
            </a:r>
          </a:p>
          <a:p>
            <a:r>
              <a:rPr sz="900" i="1">
                <a:solidFill>
                  <a:srgbClr val="595959"/>
                </a:solidFill>
              </a:rPr>
              <a:t>Expected: Levels 1-4 are indented further each time and get smaller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PPTX-17 · Numbered and lettered</a:t>
            </a:r>
          </a:p>
          <a:p>
            <a:r>
              <a:rPr sz="900" i="1">
                <a:solidFill>
                  <a:srgbClr val="595959"/>
                </a:solidFill>
              </a:rPr>
              <a:t>Expected: 1. 2. then 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0"/>
            <a:ext cx="7863840" cy="0"/>
          </a:xfrm>
        </p:spPr>
        <p:txBody>
          <a:bodyPr/>
          <a:lstStyle/>
          <a:p>
            <a:r>
              <a:t>4. Shrink text on overflow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280160"/>
            <a:ext cx="7863840" cy="3840480"/>
          </a:xfrm>
        </p:spPr>
        <p:txBody>
          <a:bodyPr>
            <a:normAutofit fontScale="55000" lnSpcReduction="20000"/>
          </a:bodyPr>
          <a:lstStyle/>
          <a:p>
            <a:pPr/>
            <a:r>
              <a:t>Line 1: this placeholder has more text than fits, so PowerPoint shrinks it.</a:t>
            </a:r>
          </a:p>
          <a:p>
            <a:pPr lvl="1"/>
            <a:r>
              <a:t>Line 2: this placeholder has more text than fits, so PowerPoint shrinks it.</a:t>
            </a:r>
          </a:p>
          <a:p>
            <a:pPr lvl="1"/>
            <a:r>
              <a:t>Line 3: this placeholder has more text than fits, so PowerPoint shrinks it.</a:t>
            </a:r>
          </a:p>
          <a:p>
            <a:pPr/>
            <a:r>
              <a:t>Line 4: this placeholder has more text than fits, so PowerPoint shrinks it.</a:t>
            </a:r>
          </a:p>
          <a:p>
            <a:pPr lvl="1"/>
            <a:r>
              <a:t>Line 5: this placeholder has more text than fits, so PowerPoint shrinks it.</a:t>
            </a:r>
          </a:p>
          <a:p>
            <a:pPr lvl="1"/>
            <a:r>
              <a:t>Line 6: this placeholder has more text than fits, so PowerPoint shrinks it.</a:t>
            </a:r>
          </a:p>
          <a:p>
            <a:pPr/>
            <a:r>
              <a:t>Line 7: this placeholder has more text than fits, so PowerPoint shrinks it.</a:t>
            </a:r>
          </a:p>
          <a:p>
            <a:pPr lvl="1"/>
            <a:r>
              <a:t>Line 8: this placeholder has more text than fits, so PowerPoint shrinks it.</a:t>
            </a:r>
          </a:p>
          <a:p>
            <a:pPr lvl="1"/>
            <a:r>
              <a:t>Line 9: this placeholder has more text than fits, so PowerPoint shrinks it.</a:t>
            </a:r>
          </a:p>
          <a:p>
            <a:pPr/>
            <a:r>
              <a:t>Line 10: this placeholder has more text than fits, so PowerPoint shrinks it.</a:t>
            </a:r>
          </a:p>
          <a:p>
            <a:pPr lvl="1"/>
            <a:r>
              <a:t>Line 11: this placeholder has more text than fits, so PowerPoint shrinks it.</a:t>
            </a:r>
          </a:p>
          <a:p>
            <a:pPr lvl="1"/>
            <a:r>
              <a:t>Line 12: this placeholder has more text than fits, so PowerPoint shrinks it.</a:t>
            </a:r>
          </a:p>
          <a:p>
            <a:pPr/>
            <a:r>
              <a:t>Line 13: this placeholder has more text than fits, so PowerPoint shrinks it.</a:t>
            </a:r>
          </a:p>
          <a:p>
            <a:pPr lvl="1"/>
            <a:r>
              <a:t>Line 14: this placeholder has more text than fits, so PowerPoint shrinks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5166360"/>
            <a:ext cx="786384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0" y="274320"/>
            <a:ext cx="3566160" cy="63093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/>
            <a:r>
              <a:rPr b="1" sz="1300">
                <a:solidFill>
                  <a:srgbClr val="1F4E79"/>
                </a:solidFill>
              </a:rPr>
              <a:t>Tests on this slide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PPTX-18 · Shrink text on overflow</a:t>
            </a:r>
          </a:p>
          <a:p>
            <a:r>
              <a:rPr sz="900" i="1">
                <a:solidFill>
                  <a:srgbClr val="595959"/>
                </a:solidFill>
              </a:rPr>
              <a:t>Expected: All 14 lines fit above the red line (text is smaller); nothing runs past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5. Shapes and arrows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188720"/>
            <a:ext cx="1737360" cy="1097280"/>
          </a:xfrm>
          <a:prstGeom prst="rect">
            <a:avLst/>
          </a:prstGeom>
          <a:solidFill>
            <a:srgbClr val="4472C4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/>
              <a:t>Rectangle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31720" y="1188720"/>
            <a:ext cx="1737360" cy="1097280"/>
          </a:xfrm>
          <a:prstGeom prst="roundRect">
            <a:avLst/>
          </a:prstGeom>
          <a:solidFill>
            <a:srgbClr val="70AD47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/>
              <a:t>Rounded</a:t>
            </a:r>
          </a:p>
        </p:txBody>
      </p:sp>
      <p:sp>
        <p:nvSpPr>
          <p:cNvPr id="5" name="Oval 4"/>
          <p:cNvSpPr/>
          <p:nvPr/>
        </p:nvSpPr>
        <p:spPr>
          <a:xfrm>
            <a:off x="4297680" y="1188720"/>
            <a:ext cx="1737360" cy="1097280"/>
          </a:xfrm>
          <a:prstGeom prst="ellipse">
            <a:avLst/>
          </a:prstGeom>
          <a:solidFill>
            <a:srgbClr val="ED7D31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/>
              <a:t>Circle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6263640" y="1188720"/>
            <a:ext cx="1737360" cy="1097280"/>
          </a:xfrm>
          <a:prstGeom prst="triangle">
            <a:avLst/>
          </a:prstGeom>
          <a:solidFill>
            <a:srgbClr val="FFC00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/>
              <a:t>Triangle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5760" y="2606040"/>
            <a:ext cx="1737360" cy="1097280"/>
          </a:xfrm>
          <a:prstGeom prst="rightArrow">
            <a:avLst/>
          </a:prstGeom>
          <a:solidFill>
            <a:srgbClr val="C0000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/>
              <a:t>Right arrow</a:t>
            </a:r>
          </a:p>
        </p:txBody>
      </p:sp>
      <p:sp>
        <p:nvSpPr>
          <p:cNvPr id="8" name="Left-Right Arrow 7"/>
          <p:cNvSpPr/>
          <p:nvPr/>
        </p:nvSpPr>
        <p:spPr>
          <a:xfrm>
            <a:off x="2331720" y="2606040"/>
            <a:ext cx="1737360" cy="1097280"/>
          </a:xfrm>
          <a:prstGeom prst="leftRightArrow">
            <a:avLst/>
          </a:prstGeom>
          <a:solidFill>
            <a:srgbClr val="7030A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/>
              <a:t>Both ways</a:t>
            </a:r>
          </a:p>
        </p:txBody>
      </p:sp>
      <p:sp>
        <p:nvSpPr>
          <p:cNvPr id="9" name="Up Arrow 8"/>
          <p:cNvSpPr/>
          <p:nvPr/>
        </p:nvSpPr>
        <p:spPr>
          <a:xfrm>
            <a:off x="4297680" y="2606040"/>
            <a:ext cx="1737360" cy="1097280"/>
          </a:xfrm>
          <a:prstGeom prst="upArrow">
            <a:avLst/>
          </a:prstGeom>
          <a:solidFill>
            <a:srgbClr val="00B0F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/>
              <a:t>Up</a:t>
            </a:r>
          </a:p>
        </p:txBody>
      </p:sp>
      <p:sp>
        <p:nvSpPr>
          <p:cNvPr id="10" name="5-Point Star 9"/>
          <p:cNvSpPr/>
          <p:nvPr/>
        </p:nvSpPr>
        <p:spPr>
          <a:xfrm>
            <a:off x="6263640" y="2606040"/>
            <a:ext cx="1737360" cy="1097280"/>
          </a:xfrm>
          <a:prstGeom prst="star5">
            <a:avLst/>
          </a:prstGeom>
          <a:solidFill>
            <a:srgbClr val="FFD966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/>
              <a:t>Star</a:t>
            </a:r>
          </a:p>
        </p:txBody>
      </p:sp>
      <p:sp>
        <p:nvSpPr>
          <p:cNvPr id="11" name="Rectangular Callout 10"/>
          <p:cNvSpPr/>
          <p:nvPr/>
        </p:nvSpPr>
        <p:spPr>
          <a:xfrm>
            <a:off x="365760" y="4023360"/>
            <a:ext cx="1737360" cy="1097280"/>
          </a:xfrm>
          <a:prstGeom prst="wedgeRectCallout">
            <a:avLst/>
          </a:prstGeom>
          <a:solidFill>
            <a:srgbClr val="A9D18E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/>
              <a:t>Callout</a:t>
            </a:r>
          </a:p>
        </p:txBody>
      </p:sp>
      <p:sp>
        <p:nvSpPr>
          <p:cNvPr id="12" name="Chevron 11"/>
          <p:cNvSpPr/>
          <p:nvPr/>
        </p:nvSpPr>
        <p:spPr>
          <a:xfrm>
            <a:off x="2331720" y="4023360"/>
            <a:ext cx="1737360" cy="1097280"/>
          </a:xfrm>
          <a:prstGeom prst="chevron">
            <a:avLst/>
          </a:prstGeom>
          <a:solidFill>
            <a:srgbClr val="8FAADC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/>
              <a:t>Chevron</a:t>
            </a:r>
          </a:p>
        </p:txBody>
      </p:sp>
      <p:sp>
        <p:nvSpPr>
          <p:cNvPr id="13" name="Pentagon 12"/>
          <p:cNvSpPr/>
          <p:nvPr/>
        </p:nvSpPr>
        <p:spPr>
          <a:xfrm>
            <a:off x="4297680" y="4023360"/>
            <a:ext cx="1737360" cy="1097280"/>
          </a:xfrm>
          <a:prstGeom prst="homePlate">
            <a:avLst/>
          </a:prstGeom>
          <a:solidFill>
            <a:srgbClr val="F4B183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/>
              <a:t>Pentagon</a:t>
            </a:r>
          </a:p>
        </p:txBody>
      </p:sp>
      <p:sp>
        <p:nvSpPr>
          <p:cNvPr id="14" name="Hexagon 13"/>
          <p:cNvSpPr/>
          <p:nvPr/>
        </p:nvSpPr>
        <p:spPr>
          <a:xfrm>
            <a:off x="6263640" y="4023360"/>
            <a:ext cx="1737360" cy="1097280"/>
          </a:xfrm>
          <a:prstGeom prst="hexagon">
            <a:avLst/>
          </a:prstGeom>
          <a:solidFill>
            <a:srgbClr val="BF900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/>
              <a:t>Hexagon</a:t>
            </a:r>
          </a:p>
        </p:txBody>
      </p:sp>
      <p:sp>
        <p:nvSpPr>
          <p:cNvPr id="15" name="Rectangle 14"/>
          <p:cNvSpPr/>
          <p:nvPr/>
        </p:nvSpPr>
        <p:spPr>
          <a:xfrm rot="1800000">
            <a:off x="548640" y="5577840"/>
            <a:ext cx="1463040" cy="640080"/>
          </a:xfrm>
          <a:prstGeom prst="rect">
            <a:avLst/>
          </a:prstGeom>
          <a:solidFill>
            <a:srgbClr val="5B9BD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Rotated 30°</a:t>
            </a:r>
          </a:p>
        </p:txBody>
      </p:sp>
      <p:sp>
        <p:nvSpPr>
          <p:cNvPr id="16" name="Oval 15"/>
          <p:cNvSpPr/>
          <p:nvPr/>
        </p:nvSpPr>
        <p:spPr>
          <a:xfrm>
            <a:off x="2560320" y="5486400"/>
            <a:ext cx="1280160" cy="82296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4206240" y="5897880"/>
            <a:ext cx="3657600" cy="0"/>
          </a:xfrm>
          <a:prstGeom prst="line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412480" y="274320"/>
            <a:ext cx="3566160" cy="63093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/>
            <a:r>
              <a:rPr b="1" sz="1300">
                <a:solidFill>
                  <a:srgbClr val="1F4E79"/>
                </a:solidFill>
              </a:rPr>
              <a:t>Tests on this slide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PPTX-19 · Basic shapes</a:t>
            </a:r>
          </a:p>
          <a:p>
            <a:r>
              <a:rPr sz="900" i="1">
                <a:solidFill>
                  <a:srgbClr val="595959"/>
                </a:solidFill>
              </a:rPr>
              <a:t>Expected: Rectangle, rounded box, circle, triangle with their colors and labels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PPTX-20 · Arrows</a:t>
            </a:r>
          </a:p>
          <a:p>
            <a:r>
              <a:rPr sz="900" i="1">
                <a:solidFill>
                  <a:srgbClr val="595959"/>
                </a:solidFill>
              </a:rPr>
              <a:t>Expected: Right arrow, left-right arrow and up arrow have arrow shapes (not plain boxes)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PPTX-21 · Other shapes</a:t>
            </a:r>
          </a:p>
          <a:p>
            <a:r>
              <a:rPr sz="900" i="1">
                <a:solidFill>
                  <a:srgbClr val="595959"/>
                </a:solidFill>
              </a:rPr>
              <a:t>Expected: Star, callout, chevron, pentagon, hexagon have their real outlines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PPTX-22 · Rotation</a:t>
            </a:r>
          </a:p>
          <a:p>
            <a:r>
              <a:rPr sz="900" i="1">
                <a:solidFill>
                  <a:srgbClr val="595959"/>
                </a:solidFill>
              </a:rPr>
              <a:t>Expected: "Rotated 30°" box is tilted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PPTX-23 · Outline only</a:t>
            </a:r>
          </a:p>
          <a:p>
            <a:r>
              <a:rPr sz="900" i="1">
                <a:solidFill>
                  <a:srgbClr val="595959"/>
                </a:solidFill>
              </a:rPr>
              <a:t>Expected: Red circle outline with no fill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PPTX-24 · Connector with arrow head</a:t>
            </a:r>
          </a:p>
          <a:p>
            <a:r>
              <a:rPr sz="900" i="1">
                <a:solidFill>
                  <a:srgbClr val="595959"/>
                </a:solidFill>
              </a:rPr>
              <a:t>Expected: Blue line at the bottom with an arrow head on the right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6. Pictures</a:t>
            </a:r>
          </a:p>
        </p:txBody>
      </p:sp>
      <p:pic>
        <p:nvPicPr>
          <p:cNvPr id="3" name="Picture 2" descr="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3840480" cy="2560320"/>
          </a:xfrm>
          <a:prstGeom prst="rect">
            <a:avLst/>
          </a:prstGeom>
        </p:spPr>
      </p:pic>
      <p:pic>
        <p:nvPicPr>
          <p:cNvPr id="4" name="Picture 3" descr="picture.png"/>
          <p:cNvPicPr>
            <a:picLocks noChangeAspect="1"/>
          </p:cNvPicPr>
          <p:nvPr/>
        </p:nvPicPr>
        <p:blipFill>
          <a:blip r:embed="rId2"/>
          <a:srcRect r="50000" b="50000"/>
          <a:stretch>
            <a:fillRect/>
          </a:stretch>
        </p:blipFill>
        <p:spPr>
          <a:xfrm>
            <a:off x="4389120" y="1188720"/>
            <a:ext cx="3840480" cy="2560320"/>
          </a:xfrm>
          <a:prstGeom prst="rect">
            <a:avLst/>
          </a:prstGeom>
        </p:spPr>
      </p:pic>
      <p:pic>
        <p:nvPicPr>
          <p:cNvPr id="5" name="Picture 4" descr="pictur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023360"/>
            <a:ext cx="3291840" cy="2194560"/>
          </a:xfrm>
          <a:prstGeom prst="rect">
            <a:avLst/>
          </a:prstGeom>
          <a:ln w="50800">
            <a:solidFill>
              <a:srgbClr val="C00000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8412480" y="274320"/>
            <a:ext cx="3566160" cy="63093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/>
            <a:r>
              <a:rPr b="1" sz="1300">
                <a:solidFill>
                  <a:srgbClr val="1F4E79"/>
                </a:solidFill>
              </a:rPr>
              <a:t>Tests on this slide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PPTX-25 · Picture</a:t>
            </a:r>
          </a:p>
          <a:p>
            <a:r>
              <a:rPr sz="900" i="1">
                <a:solidFill>
                  <a:srgbClr val="595959"/>
                </a:solidFill>
              </a:rPr>
              <a:t>Expected: Top-left: whole "Embedded picture" test chart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PPTX-26 · Cropped picture</a:t>
            </a:r>
          </a:p>
          <a:p>
            <a:r>
              <a:rPr sz="900" i="1">
                <a:solidFill>
                  <a:srgbClr val="595959"/>
                </a:solidFill>
              </a:rPr>
              <a:t>Expected: Top-right: only the top-left quarter of the chart (title + RED/GREEN bars), enlarged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PPTX-27 · Picture with border</a:t>
            </a:r>
          </a:p>
          <a:p>
            <a:r>
              <a:rPr sz="900" i="1">
                <a:solidFill>
                  <a:srgbClr val="595959"/>
                </a:solidFill>
              </a:rPr>
              <a:t>Expected: Bottom: purple "Picture 2" with a thick red border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7.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7863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548640">
                <a:tc>
                  <a:txBody>
                    <a:bodyPr/>
                    <a:lstStyle/>
                    <a:p>
                      <a:r>
                        <a:rPr sz="16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Total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2,550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1,300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2,700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1,400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1,450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2,850</a:t>
                      </a:r>
                    </a:p>
                  </a:txBody>
                  <a:tcPr/>
                </a:tc>
              </a:tr>
              <a:tr h="548640">
                <a:tc gridSpan="4">
                  <a:txBody>
                    <a:bodyPr/>
                    <a:lstStyle/>
                    <a:p>
                      <a:r>
                        <a:rPr sz="1600"/>
                        <a:t>Merged note across all columns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8412480" y="274320"/>
            <a:ext cx="3566160" cy="63093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/>
            <a:r>
              <a:rPr b="1" sz="1300">
                <a:solidFill>
                  <a:srgbClr val="1F4E79"/>
                </a:solidFill>
              </a:rPr>
              <a:t>Tests on this slide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PPTX-28 · Table header</a:t>
            </a:r>
          </a:p>
          <a:p>
            <a:r>
              <a:rPr sz="900" i="1">
                <a:solidFill>
                  <a:srgbClr val="595959"/>
                </a:solidFill>
              </a:rPr>
              <a:t>Expected: First row has a colored header with white bold text (theme style)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PPTX-29 · Banded rows</a:t>
            </a:r>
          </a:p>
          <a:p>
            <a:r>
              <a:rPr sz="900" i="1">
                <a:solidFill>
                  <a:srgbClr val="595959"/>
                </a:solidFill>
              </a:rPr>
              <a:t>Expected: Rows alternate light / darker shading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PPTX-30 · Cell color</a:t>
            </a:r>
          </a:p>
          <a:p>
            <a:r>
              <a:rPr sz="900" i="1">
                <a:solidFill>
                  <a:srgbClr val="595959"/>
                </a:solidFill>
              </a:rPr>
              <a:t>Expected: East total (2,700) has a light green background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PPTX-31 · Merged cells</a:t>
            </a:r>
          </a:p>
          <a:p>
            <a:r>
              <a:rPr sz="900" i="1">
                <a:solidFill>
                  <a:srgbClr val="595959"/>
                </a:solidFill>
              </a:rPr>
              <a:t>Expected: Last row is one cell across all 4 columns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/>
          <p:cNvSpPr txBox="1"/>
          <p:nvPr/>
        </p:nvSpPr>
        <p:spPr>
          <a:xfrm>
            <a:off x="4846320" y="40233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TEXT BEHIND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65760" y="2743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8. Group, gradient, transparency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48640" y="1463040"/>
            <a:ext cx="4023360" cy="1463040"/>
            <a:chOff x="548640" y="1463040"/>
            <a:chExt cx="4023360" cy="1463040"/>
          </a:xfrm>
        </p:grpSpPr>
        <p:sp>
          <p:nvSpPr>
            <p:cNvPr id="4" name="Rounded Rectangle 3"/>
            <p:cNvSpPr/>
            <p:nvPr/>
          </p:nvSpPr>
          <p:spPr>
            <a:xfrm>
              <a:off x="548640" y="1463040"/>
              <a:ext cx="1463040" cy="914400"/>
            </a:xfrm>
            <a:prstGeom prst="roundRect">
              <a:avLst/>
            </a:prstGeom>
            <a:solidFill>
              <a:srgbClr val="4472C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 1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1828800" y="1737360"/>
              <a:ext cx="1463040" cy="914400"/>
            </a:xfrm>
            <a:prstGeom prst="roundRect">
              <a:avLst/>
            </a:prstGeom>
            <a:solidFill>
              <a:srgbClr val="ED7D3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 2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108960" y="2011680"/>
              <a:ext cx="1463040" cy="914400"/>
            </a:xfrm>
            <a:prstGeom prst="roundRect">
              <a:avLst/>
            </a:prstGeom>
            <a:solidFill>
              <a:srgbClr val="70AD47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Group 3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548640" y="3474720"/>
            <a:ext cx="3657600" cy="12801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1F4E79"/>
              </a:gs>
            </a:gsLst>
            <a:lin scaled="0" ang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Gradient white -&gt; dark blue</a:t>
            </a:r>
          </a:p>
        </p:txBody>
      </p:sp>
      <p:sp>
        <p:nvSpPr>
          <p:cNvPr id="8" name="Oval 7"/>
          <p:cNvSpPr/>
          <p:nvPr/>
        </p:nvSpPr>
        <p:spPr>
          <a:xfrm>
            <a:off x="4754880" y="3291840"/>
            <a:ext cx="1828800" cy="1828800"/>
          </a:xfrm>
          <a:prstGeom prst="ellipse">
            <a:avLst/>
          </a:prstGeom>
          <a:solidFill>
            <a:srgbClr val="C00000">
              <a:alpha val="4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40% opaque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274320"/>
            <a:ext cx="3566160" cy="63093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/>
            <a:r>
              <a:rPr b="1" sz="1300">
                <a:solidFill>
                  <a:srgbClr val="1F4E79"/>
                </a:solidFill>
              </a:rPr>
              <a:t>Tests on this slide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PPTX-32 · Grouped shapes</a:t>
            </a:r>
          </a:p>
          <a:p>
            <a:r>
              <a:rPr sz="900" i="1">
                <a:solidFill>
                  <a:srgbClr val="595959"/>
                </a:solidFill>
              </a:rPr>
              <a:t>Expected: Three overlapping colored boxes "Group 1-3", stepping down to the right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PPTX-33 · Gradient fill</a:t>
            </a:r>
          </a:p>
          <a:p>
            <a:r>
              <a:rPr sz="900" i="1">
                <a:solidFill>
                  <a:srgbClr val="595959"/>
                </a:solidFill>
              </a:rPr>
              <a:t>Expected: Wide box fades from white (left) to dark blue (right)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PPTX-34 · Transparency</a:t>
            </a:r>
          </a:p>
          <a:p>
            <a:r>
              <a:rPr sz="900" i="1">
                <a:solidFill>
                  <a:srgbClr val="595959"/>
                </a:solidFill>
              </a:rPr>
              <a:t>Expected: Red circle is see-through: "TEXT BEHIND" is visible through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9. Charts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1188720"/>
          <a:ext cx="393192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389120" y="1188720"/>
          <a:ext cx="3840480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ectangle 4"/>
          <p:cNvSpPr/>
          <p:nvPr/>
        </p:nvSpPr>
        <p:spPr>
          <a:xfrm>
            <a:off x="8412480" y="274320"/>
            <a:ext cx="3566160" cy="63093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/>
            <a:r>
              <a:rPr b="1" sz="1300">
                <a:solidFill>
                  <a:srgbClr val="1F4E79"/>
                </a:solidFill>
              </a:rPr>
              <a:t>Tests on this slide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PPTX-35 · Column chart</a:t>
            </a:r>
          </a:p>
          <a:p>
            <a:r>
              <a:rPr sz="900" i="1">
                <a:solidFill>
                  <a:srgbClr val="595959"/>
                </a:solidFill>
              </a:rPr>
              <a:t>Expected: Blue and orange columns for Q1-Q4 with a legend (West, East)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PPTX-36 · Pie chart</a:t>
            </a:r>
          </a:p>
          <a:p>
            <a:r>
              <a:rPr sz="900" i="1">
                <a:solidFill>
                  <a:srgbClr val="595959"/>
                </a:solidFill>
              </a:rPr>
              <a:t>Expected: Pie with 3 slices: Deposits 55%, Loans 35%, Other 10%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F4E79"/>
                </a:solidFill>
              </a:rPr>
              <a:t>10. Slide background and speaker notes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0" y="274320"/>
            <a:ext cx="3566160" cy="6309360"/>
          </a:xfrm>
          <a:prstGeom prst="rect">
            <a:avLst/>
          </a:prstGeom>
          <a:solidFill>
            <a:srgbClr val="F2F2F2"/>
          </a:solidFill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109728"/>
          <a:lstStyle/>
          <a:p>
            <a:pPr algn="ctr"/>
            <a:r>
              <a:rPr b="1" sz="1300">
                <a:solidFill>
                  <a:srgbClr val="1F4E79"/>
                </a:solidFill>
              </a:rPr>
              <a:t>Tests on this slide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PPTX-37 · Slide background color</a:t>
            </a:r>
          </a:p>
          <a:p>
            <a:r>
              <a:rPr sz="900" i="1">
                <a:solidFill>
                  <a:srgbClr val="595959"/>
                </a:solidFill>
              </a:rPr>
              <a:t>Expected: This slide has a light yellow background (other slides are white)</a:t>
            </a:r>
          </a:p>
          <a:p>
            <a:pPr>
              <a:spcBef>
                <a:spcPts val="600"/>
              </a:spcBef>
            </a:pPr>
            <a:r>
              <a:rPr b="1" sz="1000">
                <a:solidFill>
                  <a:srgbClr val="1F4E79"/>
                </a:solidFill>
              </a:rPr>
              <a:t>PPTX-38 · Speaker notes</a:t>
            </a:r>
          </a:p>
          <a:p>
            <a:r>
              <a:rPr sz="900" i="1">
                <a:solidFill>
                  <a:srgbClr val="595959"/>
                </a:solidFill>
              </a:rPr>
              <a:t>Expected: Notes "These are the speaker notes for slide 10." are available (if the viewer shows notes)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